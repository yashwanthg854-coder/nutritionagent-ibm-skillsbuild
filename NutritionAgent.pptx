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4" r:id="rId25"/>
    <p:sldId id="267" r:id="rId18"/>
    <p:sldId id="275" r:id="rId26"/>
    <p:sldId id="268" r:id="rId19"/>
    <p:sldId id="269" r:id="rId20"/>
    <p:sldId id="270" r:id="rId21"/>
    <p:sldId id="271" r:id="rId22"/>
    <p:sldId id="273" r:id="rId24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20.xml"/><Relationship Id="rId24" Type="http://schemas.openxmlformats.org/officeDocument/2006/relationships/slide" Target="slides/slide19.xml"/><Relationship Id="rId25" Type="http://schemas.openxmlformats.org/officeDocument/2006/relationships/slide" Target="slides/slide12.xml"/><Relationship Id="rId26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yashwanthg854-coder/NutritionAgent-IBM-SkillsBuild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595144" y="2743200"/>
            <a:ext cx="3047923" cy="226314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43293" y="2924251"/>
            <a:ext cx="110833" cy="484896"/>
          </a:xfrm>
          <a:prstGeom prst="round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63189" y="2674876"/>
            <a:ext cx="415625" cy="415625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81312" y="3339876"/>
            <a:ext cx="1801045" cy="131614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96938" y="3783211"/>
            <a:ext cx="332500" cy="332500"/>
          </a:xfrm>
          <a:prstGeom prst="ellipse">
            <a:avLst/>
          </a:prstGeom>
          <a:solidFill>
            <a:srgbClr val="4F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2669" y="3783211"/>
            <a:ext cx="332500" cy="332500"/>
          </a:xfrm>
          <a:prstGeom prst="ellipse">
            <a:avLst/>
          </a:prstGeom>
          <a:solidFill>
            <a:srgbClr val="4F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24647" y="4309670"/>
            <a:ext cx="858960" cy="138541"/>
          </a:xfrm>
          <a:prstGeom prst="roundRect">
            <a:avLst/>
          </a:prstGeom>
          <a:solidFill>
            <a:srgbClr val="1E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76520" y="3700085"/>
            <a:ext cx="277083" cy="277083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13087" y="3700085"/>
            <a:ext cx="277083" cy="277083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04751" y="4656025"/>
            <a:ext cx="415625" cy="180104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04228" y="4836129"/>
            <a:ext cx="2355213" cy="1801045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47563" y="5113213"/>
            <a:ext cx="1385419" cy="90052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27667" y="5902903"/>
            <a:ext cx="193958" cy="19395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15585" y="5902903"/>
            <a:ext cx="193958" cy="193958"/>
          </a:xfrm>
          <a:prstGeom prst="ellipse">
            <a:avLst/>
          </a:prstGeom>
          <a:solidFill>
            <a:srgbClr val="4F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03502" y="5902903"/>
            <a:ext cx="193958" cy="19395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0895" y="5002380"/>
            <a:ext cx="360209" cy="1108335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731733" y="5002380"/>
            <a:ext cx="360209" cy="1108335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144" y="4914900"/>
            <a:ext cx="304792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</a:defRPr>
            </a:pPr>
            <a:r>
              <a:t>Agentic AI Assistant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A33"/>
                </a:solidFill>
                <a:latin typeface="Arial"/>
              </a:defRPr>
            </a:pPr>
            <a:r>
              <a:t>Orchestrate Architecture Blueprint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32607" y="1234440"/>
            <a:ext cx="182880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Text 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81447" y="1234440"/>
            <a:ext cx="182880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Voice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30287" y="1234440"/>
            <a:ext cx="182880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Image Input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5847" y="1737360"/>
            <a:ext cx="0" cy="365760"/>
          </a:xfrm>
          <a:prstGeom prst="line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124047" y="2103120"/>
            <a:ext cx="5943600" cy="6400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IBM watsonx Orchestrate  (LangFlow)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743200"/>
            <a:ext cx="0" cy="320040"/>
          </a:xfrm>
          <a:prstGeom prst="line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66847" y="3063240"/>
            <a:ext cx="6858000" cy="1737360"/>
          </a:xfrm>
          <a:prstGeom prst="roundRect">
            <a:avLst/>
          </a:prstGeom>
          <a:solidFill>
            <a:srgbClr val="F4F8F8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986887" y="3291840"/>
            <a:ext cx="3108960" cy="50292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Nutrition Knowledge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0167" y="3291840"/>
            <a:ext cx="3108960" cy="50292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Diet Recommendation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86887" y="3977640"/>
            <a:ext cx="3108960" cy="50292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Health Advisory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0167" y="3977640"/>
            <a:ext cx="3108960" cy="50292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Food Log &amp; Feedback Agent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847" y="4800600"/>
            <a:ext cx="0" cy="320040"/>
          </a:xfrm>
          <a:prstGeom prst="line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12567" y="5120640"/>
            <a:ext cx="3108960" cy="54864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Vector DB (FAISS/Chroma)</a:t>
            </a:r>
          </a:p>
          <a:p>
            <a:r>
              <a:t>+ USDA/WHO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70167" y="5120640"/>
            <a:ext cx="3108960" cy="54864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IBM Granite Models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21527" y="5394960"/>
            <a:ext cx="548640" cy="0"/>
          </a:xfrm>
          <a:prstGeom prst="line">
            <a:avLst/>
          </a:prstGeom>
          <a:ln w="190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5847" y="5669280"/>
            <a:ext cx="0" cy="320040"/>
          </a:xfrm>
          <a:prstGeom prst="line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981047" y="5989320"/>
            <a:ext cx="8229600" cy="502920"/>
          </a:xfrm>
          <a:prstGeom prst="roundRect">
            <a:avLst/>
          </a:prstGeom>
          <a:solidFill>
            <a:srgbClr val="1E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Output: Personalized Meal Plans | Nutritional Analysis | Health Advice | Food Log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06060"/>
                </a:solidFill>
              </a:defRPr>
            </a:pPr>
            <a:r>
              <a:t>Deployed on IBM Cloud Lite  |  IBM SkillsBuild x AICTE-2026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33"/>
                </a:solidFill>
                <a:latin typeface="Arial"/>
              </a:defRPr>
            </a:pPr>
            <a:r>
              <a:t>Role of Agentic AI in the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55480" y="1463040"/>
            <a:ext cx="73152" cy="365760"/>
          </a:xfrm>
          <a:prstGeom prst="round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36608" y="1261872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52560" y="1783080"/>
            <a:ext cx="1280160" cy="1005840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45168" y="2121408"/>
            <a:ext cx="256032" cy="256032"/>
          </a:xfrm>
          <a:prstGeom prst="ellipse">
            <a:avLst/>
          </a:prstGeom>
          <a:solidFill>
            <a:srgbClr val="4F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0" y="2121408"/>
            <a:ext cx="256032" cy="256032"/>
          </a:xfrm>
          <a:prstGeom prst="ellipse">
            <a:avLst/>
          </a:prstGeom>
          <a:solidFill>
            <a:srgbClr val="4F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72600" y="2514600"/>
            <a:ext cx="640080" cy="109728"/>
          </a:xfrm>
          <a:prstGeom prst="roundRect">
            <a:avLst/>
          </a:prstGeom>
          <a:solidFill>
            <a:srgbClr val="1E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0" y="2057400"/>
            <a:ext cx="201168" cy="20116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14432" y="2057400"/>
            <a:ext cx="201168" cy="20116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28048" y="2788920"/>
            <a:ext cx="320040" cy="13716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69680" y="2926080"/>
            <a:ext cx="1645920" cy="137160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9720" y="3154680"/>
            <a:ext cx="1005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0" y="3794760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199" y="3794760"/>
            <a:ext cx="146304" cy="146304"/>
          </a:xfrm>
          <a:prstGeom prst="ellipse">
            <a:avLst/>
          </a:prstGeom>
          <a:solidFill>
            <a:srgbClr val="4F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0" y="3794760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49640" y="3063240"/>
            <a:ext cx="274320" cy="82296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61320" y="3063240"/>
            <a:ext cx="274320" cy="82296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Agentic AI enables the Nutrition Agent to function as an intelligent, autonomous system rather than a simple chatbot.</a:t>
            </a:r>
          </a:p>
          <a:p>
            <a:pPr>
              <a:spcAft>
                <a:spcPts val="14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Using IBM watsonx.ai and IBM Granite models, it coordinates multiple specialized agents to deliver personalized nutrition guidance. Each agent performs a specific role — retrieving nutritional data, generating diet plans, providing health advice, and analyzing food logs — while working collaboratively.</a:t>
            </a:r>
          </a:p>
          <a:p>
            <a:pPr>
              <a:spcAft>
                <a:spcPts val="600"/>
              </a:spcAft>
              <a:defRPr sz="1400" b="1">
                <a:solidFill>
                  <a:srgbClr val="028090"/>
                </a:solidFill>
                <a:latin typeface="Arial"/>
              </a:defRPr>
            </a:pPr>
            <a:r>
              <a:t>• Context Awareness — understands user age, health conditions, and fitness goals</a:t>
            </a:r>
          </a:p>
          <a:p>
            <a:pPr>
              <a:spcAft>
                <a:spcPts val="600"/>
              </a:spcAft>
              <a:defRPr sz="1400" b="1">
                <a:solidFill>
                  <a:srgbClr val="028090"/>
                </a:solidFill>
                <a:latin typeface="Arial"/>
              </a:defRPr>
            </a:pPr>
            <a:r>
              <a:t>• Real-Time Adaptation — continuously updates suggestions based on daily meal logs</a:t>
            </a:r>
          </a:p>
          <a:p>
            <a:pPr>
              <a:spcAft>
                <a:spcPts val="600"/>
              </a:spcAft>
              <a:defRPr sz="1400" b="1">
                <a:solidFill>
                  <a:srgbClr val="028090"/>
                </a:solidFill>
                <a:latin typeface="Arial"/>
              </a:defRPr>
            </a:pPr>
            <a:r>
              <a:t>• Inter-Agent Communication — agents collaborate for better decision-making</a:t>
            </a:r>
          </a:p>
          <a:p>
            <a:pPr>
              <a:spcAft>
                <a:spcPts val="600"/>
              </a:spcAft>
              <a:defRPr sz="1400" b="1">
                <a:solidFill>
                  <a:srgbClr val="028090"/>
                </a:solidFill>
                <a:latin typeface="Arial"/>
              </a:defRPr>
            </a:pPr>
            <a:r>
              <a:t>• Goal-Driven Behavior — proactive, personalized, like a smart digital nutritionist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020"/>
                </a:solidFill>
                <a:latin typeface="Arial"/>
              </a:defRPr>
            </a:pPr>
            <a:r>
              <a:t>GitHub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04040"/>
                </a:solidFill>
                <a:latin typeface="Arial"/>
              </a:defRPr>
            </a:pPr>
            <a:r>
              <a:t>Project Repository:</a:t>
            </a:r>
          </a:p>
          <a:p>
            <a:pPr>
              <a:spcBef>
                <a:spcPts val="1200"/>
              </a:spcBef>
            </a:pPr>
            <a:r>
              <a:rPr sz="2000" u="sng">
                <a:solidFill>
                  <a:srgbClr val="0563C1"/>
                </a:solidFill>
                <a:latin typeface="Arial"/>
                <a:hlinkClick r:id="rId2"/>
              </a:rPr>
              <a:t>https://github.com/yashwanthg854-coder/NutritionAgent-IBM-SkillsBuild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